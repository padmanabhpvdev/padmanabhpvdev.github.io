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>
        <p:scale>
          <a:sx n="33" d="100"/>
          <a:sy n="33" d="100"/>
        </p:scale>
        <p:origin x="2166" y="1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BA02-E3F3-4EC7-A4F3-D7945827D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112EE9-68F8-4EFB-A274-951F778F3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1007F-E367-4793-96C1-947BA3A52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426A-67D6-4C35-8C5D-009692CC225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2A6CD-5050-4EFE-B843-A5613B7AA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569B0-8E9E-4474-80E8-B1745306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EEDF3-B32A-407E-A235-8082A444C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429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FD9C0-76EA-476A-80DA-DAD8D845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D7589-9CFF-4DD7-9DB9-02E79AFB0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2B1AE-585B-45E7-BCC3-A1403F3F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426A-67D6-4C35-8C5D-009692CC225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0A713-D6DF-43F3-A523-09BCC5C96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84684-5EC6-4EEC-8C03-A2918E13C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EEDF3-B32A-407E-A235-8082A444C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005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CAE8D-F307-47C8-B7C7-C155BF2DE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62D46-7B3A-4878-BEC9-106D4C6C6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8E828-3BE2-44DD-A1FF-E65F40487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426A-67D6-4C35-8C5D-009692CC225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78490-7993-49CC-8798-7AACC905A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3BE68-25C3-459F-A6DA-DFBC3E92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EEDF3-B32A-407E-A235-8082A444C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81031-BBF0-4CC4-ABD7-9F3FFC47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F0FF3-F549-41DC-BF75-13273946D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7DA18-40FA-448A-BB0D-0000094C7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E9F96-1445-46CE-8910-9C2893F7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426A-67D6-4C35-8C5D-009692CC225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38739-92B0-4891-B807-CFA2B7A7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091AC-9417-4E75-AE6E-27E034C58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EEDF3-B32A-407E-A235-8082A444C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876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3CE98-E3A9-45F4-8917-6B6E77B07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A1B00-663A-4EC2-B2B4-060818042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ADC7F-4B57-40E0-8382-42FF77FB8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0D4D17-DA11-4FC8-B66E-D335D7FB5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F60AD7-BAC3-49A3-8EE0-7246B2277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49B52B-0AB9-4649-8236-CCBB723E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426A-67D6-4C35-8C5D-009692CC225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95D25A-15DD-4580-8463-F4308CE21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F86EF9-F58D-4591-AC56-F6ED7CBB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EEDF3-B32A-407E-A235-8082A444C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09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BD2DF-F16B-4AC2-A28E-1B2F7F93C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B360DA-676B-4B5C-BD01-ADD99C05A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426A-67D6-4C35-8C5D-009692CC225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534BD-CAF4-4D88-9633-641775C6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323CF-BE5E-4D38-AED5-4A3B3AEA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EEDF3-B32A-407E-A235-8082A444C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858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78B9D0-CC95-4283-A769-9A7450EB5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426A-67D6-4C35-8C5D-009692CC225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421B6-64CF-4BDA-B070-E129DF9F5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654B4-32D7-4A6E-9CB4-6BFF20B59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EEDF3-B32A-407E-A235-8082A444C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48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F16EE-7788-4CE8-B1ED-731B3D5E1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2FEEE-7786-4B49-AA34-78DC7B0C0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3E2C0-B798-4104-95A2-70DB835EC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D5457-32F4-4C35-9F75-B7E3C0224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426A-67D6-4C35-8C5D-009692CC225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1B611-D2E7-4B08-8EC9-17CD19CC3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8829F-3E85-4CE7-9F12-8C075FDB3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EEDF3-B32A-407E-A235-8082A444C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437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BDA5-8BDB-4F01-9AC0-3427182B4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05E4F4-6005-4015-946F-F9317BEB49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BEB86-12E8-428D-92BA-D28DB9CAD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CB3C5-295A-4607-AA7F-0C0ACD50F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426A-67D6-4C35-8C5D-009692CC225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27B89-42DA-48AD-ACFA-A4B754368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0C4D0-B9D4-45C9-ACD8-FCE24AD0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EEDF3-B32A-407E-A235-8082A444C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77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7C5ED-4833-4685-A35C-0525A87C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B237D-659E-4C7B-AAB3-B1E3BBA97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47BE4-0AED-44CE-A107-8D90508CF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426A-67D6-4C35-8C5D-009692CC225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0E733-FF95-432A-B631-84F5C81A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97A90-BEAA-4A4D-9199-F2547F2CB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EEDF3-B32A-407E-A235-8082A444C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74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172670-0A25-4AAD-A394-F5F0643D3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3EC18E-A658-4C5D-BF90-24C547021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E40C4-DE99-467D-AD26-EB1326239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426A-67D6-4C35-8C5D-009692CC225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8923D-9960-4F73-BC8C-114BA9E2E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EE2CE-2DA1-43FE-893D-61C621BD1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EEDF3-B32A-407E-A235-8082A444C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575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0FAB04-0CD8-4433-8835-D783E35C1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500FA-8BA9-431F-9592-17AFD6BF4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B636-344A-4EBA-959C-9D5011C40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6426A-67D6-4C35-8C5D-009692CC225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D262-54EC-45E3-B07C-7B92279D6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383A7-2C16-4BD4-AD06-C2825DA2F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EEDF3-B32A-407E-A235-8082A444C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29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DE49995-6246-45DC-A1C3-8CF8E4E6BD8E}"/>
              </a:ext>
            </a:extLst>
          </p:cNvPr>
          <p:cNvGrpSpPr/>
          <p:nvPr/>
        </p:nvGrpSpPr>
        <p:grpSpPr>
          <a:xfrm>
            <a:off x="3521031" y="1541417"/>
            <a:ext cx="5149937" cy="1887583"/>
            <a:chOff x="1817913" y="1541416"/>
            <a:chExt cx="5149937" cy="188758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A2D1C96-E9FC-46A3-832D-1A737B5B3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tretch>
              <a:fillRect/>
            </a:stretch>
          </p:blipFill>
          <p:spPr>
            <a:xfrm>
              <a:off x="1817913" y="1541416"/>
              <a:ext cx="1887583" cy="1887583"/>
            </a:xfrm>
            <a:prstGeom prst="rect">
              <a:avLst/>
            </a:prstGeom>
            <a:noFill/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A3A12A6-EBCF-404E-A3C9-E31E98CD571C}"/>
                </a:ext>
              </a:extLst>
            </p:cNvPr>
            <p:cNvSpPr/>
            <p:nvPr/>
          </p:nvSpPr>
          <p:spPr>
            <a:xfrm>
              <a:off x="3809998" y="1859339"/>
              <a:ext cx="3157852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9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WPA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AF2ADE80-87C1-4804-BC29-3BFD8FAC9FD3}"/>
              </a:ext>
            </a:extLst>
          </p:cNvPr>
          <p:cNvSpPr/>
          <p:nvPr/>
        </p:nvSpPr>
        <p:spPr>
          <a:xfrm>
            <a:off x="3134323" y="3136612"/>
            <a:ext cx="592335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Advanced Computer Networks Seminar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8651A1-4212-4CB8-9C6D-93C1D2121CB9}"/>
              </a:ext>
            </a:extLst>
          </p:cNvPr>
          <p:cNvSpPr txBox="1"/>
          <p:nvPr/>
        </p:nvSpPr>
        <p:spPr>
          <a:xfrm>
            <a:off x="2943845" y="5822667"/>
            <a:ext cx="6098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By </a:t>
            </a:r>
            <a:r>
              <a:rPr kumimoji="0" lang="en-US" sz="2800" b="1" i="0" u="none" strike="noStrike" kern="1200" cap="none" spc="0" normalizeH="0" baseline="0" noProof="0" dirty="0" err="1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Padmanabh</a:t>
            </a:r>
            <a:r>
              <a:rPr kumimoji="0" lang="en-US" sz="28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 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BB2E70-D850-48DA-A4B5-05FEB773E7B5}"/>
              </a:ext>
            </a:extLst>
          </p:cNvPr>
          <p:cNvSpPr txBox="1"/>
          <p:nvPr/>
        </p:nvSpPr>
        <p:spPr>
          <a:xfrm>
            <a:off x="1244600" y="8158247"/>
            <a:ext cx="1008736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WPA stands for </a:t>
            </a:r>
            <a:r>
              <a:rPr kumimoji="0" lang="en-US" sz="2800" b="1" i="0" strike="noStrike" kern="1200" cap="none" spc="0" normalizeH="0" baseline="0" noProof="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Wi-Fi Protected Access</a:t>
            </a:r>
            <a:r>
              <a:rPr kumimoji="0" lang="en-US" sz="2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It </a:t>
            </a:r>
            <a:r>
              <a:rPr lang="en-IN" sz="2800" dirty="0">
                <a:solidFill>
                  <a:schemeClr val="bg1"/>
                </a:solidFill>
              </a:rPr>
              <a:t>is a </a:t>
            </a:r>
            <a:r>
              <a:rPr lang="en-IN" sz="2800" b="1" dirty="0">
                <a:solidFill>
                  <a:schemeClr val="bg1"/>
                </a:solidFill>
              </a:rPr>
              <a:t>security protocol</a:t>
            </a:r>
            <a:r>
              <a:rPr lang="en-IN" sz="2800" dirty="0">
                <a:solidFill>
                  <a:schemeClr val="bg1"/>
                </a:solidFill>
              </a:rPr>
              <a:t> developed by the Wi-Fi Alliance in 2003 to replace the broken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WEP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(Wired Equivalent Privacy)</a:t>
            </a:r>
            <a:r>
              <a:rPr lang="en-IN" sz="2800" b="1" dirty="0">
                <a:solidFill>
                  <a:schemeClr val="bg1"/>
                </a:solidFill>
              </a:rPr>
              <a:t> </a:t>
            </a:r>
            <a:r>
              <a:rPr lang="en-IN" sz="2800" dirty="0">
                <a:solidFill>
                  <a:schemeClr val="bg1"/>
                </a:solidFill>
              </a:rPr>
              <a:t>protocol in Wi-Fi networks. It was designed as an </a:t>
            </a:r>
            <a:r>
              <a:rPr lang="en-IN" sz="2800" b="1" dirty="0">
                <a:solidFill>
                  <a:schemeClr val="bg1"/>
                </a:solidFill>
              </a:rPr>
              <a:t>intermediate solution</a:t>
            </a:r>
            <a:r>
              <a:rPr lang="en-IN" sz="2800" dirty="0">
                <a:solidFill>
                  <a:schemeClr val="bg1"/>
                </a:solidFill>
              </a:rPr>
              <a:t> while the full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802.11i</a:t>
            </a:r>
            <a:r>
              <a:rPr lang="en-IN" sz="2800" dirty="0">
                <a:solidFill>
                  <a:schemeClr val="bg1"/>
                </a:solidFill>
              </a:rPr>
              <a:t> standard (WPA2) was being finalized.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dirty="0">
                <a:solidFill>
                  <a:schemeClr val="bg1"/>
                </a:solidFill>
              </a:rPr>
              <a:t>The primary function of WPA is to provide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confidentiality</a:t>
            </a:r>
            <a:r>
              <a:rPr lang="en-IN" sz="2800" dirty="0">
                <a:solidFill>
                  <a:schemeClr val="bg1"/>
                </a:solidFill>
              </a:rPr>
              <a:t>,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data integrity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dirty="0">
                <a:solidFill>
                  <a:schemeClr val="bg1"/>
                </a:solidFill>
              </a:rPr>
              <a:t>and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access control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dirty="0">
                <a:solidFill>
                  <a:schemeClr val="bg1"/>
                </a:solidFill>
              </a:rPr>
              <a:t>for Wi-Fi networks.</a:t>
            </a:r>
            <a:endParaRPr kumimoji="0" lang="en-US" sz="2800" b="0" i="0" u="none" strike="noStrike" kern="1200" cap="none" spc="0" normalizeH="0" baseline="0" noProof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0499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DE49995-6246-45DC-A1C3-8CF8E4E6BD8E}"/>
              </a:ext>
            </a:extLst>
          </p:cNvPr>
          <p:cNvGrpSpPr/>
          <p:nvPr/>
        </p:nvGrpSpPr>
        <p:grpSpPr>
          <a:xfrm>
            <a:off x="3521031" y="360317"/>
            <a:ext cx="5149937" cy="1887583"/>
            <a:chOff x="1817913" y="1541416"/>
            <a:chExt cx="5149937" cy="188758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A2D1C96-E9FC-46A3-832D-1A737B5B3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tretch>
              <a:fillRect/>
            </a:stretch>
          </p:blipFill>
          <p:spPr>
            <a:xfrm>
              <a:off x="1817913" y="1541416"/>
              <a:ext cx="1887583" cy="1887583"/>
            </a:xfrm>
            <a:prstGeom prst="rect">
              <a:avLst/>
            </a:prstGeom>
            <a:noFill/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A3A12A6-EBCF-404E-A3C9-E31E98CD571C}"/>
                </a:ext>
              </a:extLst>
            </p:cNvPr>
            <p:cNvSpPr/>
            <p:nvPr/>
          </p:nvSpPr>
          <p:spPr>
            <a:xfrm>
              <a:off x="3809998" y="1859339"/>
              <a:ext cx="3157852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9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WPA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AF2ADE80-87C1-4804-BC29-3BFD8FAC9FD3}"/>
              </a:ext>
            </a:extLst>
          </p:cNvPr>
          <p:cNvSpPr/>
          <p:nvPr/>
        </p:nvSpPr>
        <p:spPr>
          <a:xfrm>
            <a:off x="-8829077" y="3136612"/>
            <a:ext cx="592335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Advanced Computer Networks Seminar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8651A1-4212-4CB8-9C6D-93C1D2121CB9}"/>
              </a:ext>
            </a:extLst>
          </p:cNvPr>
          <p:cNvSpPr txBox="1"/>
          <p:nvPr/>
        </p:nvSpPr>
        <p:spPr>
          <a:xfrm>
            <a:off x="14411945" y="5822667"/>
            <a:ext cx="6098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By </a:t>
            </a:r>
            <a:r>
              <a:rPr kumimoji="0" lang="en-US" sz="2800" b="1" i="0" u="none" strike="noStrike" kern="1200" cap="none" spc="0" normalizeH="0" baseline="0" noProof="0" dirty="0" err="1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Padmanabh</a:t>
            </a:r>
            <a:r>
              <a:rPr kumimoji="0" lang="en-US" sz="28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 V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F943B1-A593-4B5E-A5F4-2D0879687A4F}"/>
              </a:ext>
            </a:extLst>
          </p:cNvPr>
          <p:cNvGrpSpPr/>
          <p:nvPr/>
        </p:nvGrpSpPr>
        <p:grpSpPr>
          <a:xfrm>
            <a:off x="2490502" y="8004053"/>
            <a:ext cx="8380683" cy="648901"/>
            <a:chOff x="3521031" y="5173766"/>
            <a:chExt cx="8534399" cy="69175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3A345C4-2196-4181-8C5A-8F63450F1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tretch>
              <a:fillRect/>
            </a:stretch>
          </p:blipFill>
          <p:spPr>
            <a:xfrm>
              <a:off x="4028748" y="5173766"/>
              <a:ext cx="691750" cy="691750"/>
            </a:xfrm>
            <a:prstGeom prst="rect">
              <a:avLst/>
            </a:prstGeom>
            <a:noFill/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1F60A1-5FC1-435C-B320-C07EC7F767FF}"/>
                </a:ext>
              </a:extLst>
            </p:cNvPr>
            <p:cNvSpPr/>
            <p:nvPr/>
          </p:nvSpPr>
          <p:spPr>
            <a:xfrm>
              <a:off x="3521031" y="5227254"/>
              <a:ext cx="8534399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IN" sz="3200" b="1" dirty="0">
                  <a:solidFill>
                    <a:schemeClr val="bg1"/>
                  </a:solidFill>
                </a:rPr>
                <a:t>Definitions of WPA and its Versions</a:t>
              </a:r>
              <a:endParaRPr lang="en-US" sz="32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90F5433-A54A-4987-A985-477CB9607E9E}"/>
              </a:ext>
            </a:extLst>
          </p:cNvPr>
          <p:cNvSpPr txBox="1"/>
          <p:nvPr/>
        </p:nvSpPr>
        <p:spPr>
          <a:xfrm>
            <a:off x="1244600" y="2309897"/>
            <a:ext cx="1008736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WPA stands for </a:t>
            </a:r>
            <a:r>
              <a:rPr kumimoji="0" lang="en-US" sz="2800" b="1" i="0" strike="noStrike" kern="1200" cap="none" spc="0" normalizeH="0" baseline="0" noProof="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Wi-Fi Protected Access</a:t>
            </a:r>
            <a:r>
              <a:rPr kumimoji="0" lang="en-US" sz="2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It </a:t>
            </a:r>
            <a:r>
              <a:rPr lang="en-IN" sz="2800" dirty="0">
                <a:solidFill>
                  <a:schemeClr val="bg1"/>
                </a:solidFill>
              </a:rPr>
              <a:t>is a </a:t>
            </a:r>
            <a:r>
              <a:rPr lang="en-IN" sz="2800" b="1" dirty="0">
                <a:solidFill>
                  <a:schemeClr val="bg1"/>
                </a:solidFill>
              </a:rPr>
              <a:t>security protocol</a:t>
            </a:r>
            <a:r>
              <a:rPr lang="en-IN" sz="2800" dirty="0">
                <a:solidFill>
                  <a:schemeClr val="bg1"/>
                </a:solidFill>
              </a:rPr>
              <a:t> developed by the Wi-Fi Alliance in 2003 to replace the broken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WEP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(Wired Equivalent Privacy)</a:t>
            </a:r>
            <a:r>
              <a:rPr lang="en-IN" sz="2800" b="1" dirty="0">
                <a:solidFill>
                  <a:schemeClr val="bg1"/>
                </a:solidFill>
              </a:rPr>
              <a:t> </a:t>
            </a:r>
            <a:r>
              <a:rPr lang="en-IN" sz="2800" dirty="0">
                <a:solidFill>
                  <a:schemeClr val="bg1"/>
                </a:solidFill>
              </a:rPr>
              <a:t>protocol in Wi-Fi networks. It was designed as an </a:t>
            </a:r>
            <a:r>
              <a:rPr lang="en-IN" sz="2800" b="1" dirty="0">
                <a:solidFill>
                  <a:schemeClr val="bg1"/>
                </a:solidFill>
              </a:rPr>
              <a:t>intermediate solution</a:t>
            </a:r>
            <a:r>
              <a:rPr lang="en-IN" sz="2800" dirty="0">
                <a:solidFill>
                  <a:schemeClr val="bg1"/>
                </a:solidFill>
              </a:rPr>
              <a:t> while the full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802.11i</a:t>
            </a:r>
            <a:r>
              <a:rPr lang="en-IN" sz="2800" dirty="0">
                <a:solidFill>
                  <a:schemeClr val="bg1"/>
                </a:solidFill>
              </a:rPr>
              <a:t> standard (WPA2) was being finalized.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dirty="0">
                <a:solidFill>
                  <a:schemeClr val="bg1"/>
                </a:solidFill>
              </a:rPr>
              <a:t>The primary function of WPA is to provide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confidentiality</a:t>
            </a:r>
            <a:r>
              <a:rPr lang="en-IN" sz="2800" dirty="0">
                <a:solidFill>
                  <a:schemeClr val="bg1"/>
                </a:solidFill>
              </a:rPr>
              <a:t>,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data integrity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dirty="0">
                <a:solidFill>
                  <a:schemeClr val="bg1"/>
                </a:solidFill>
              </a:rPr>
              <a:t>and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access control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dirty="0">
                <a:solidFill>
                  <a:schemeClr val="bg1"/>
                </a:solidFill>
              </a:rPr>
              <a:t>for Wi-Fi networks.</a:t>
            </a:r>
            <a:endParaRPr kumimoji="0" lang="en-US" sz="2800" b="0" i="0" u="none" strike="noStrike" kern="1200" cap="none" spc="0" normalizeH="0" baseline="0" noProof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67308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DE49995-6246-45DC-A1C3-8CF8E4E6BD8E}"/>
              </a:ext>
            </a:extLst>
          </p:cNvPr>
          <p:cNvGrpSpPr/>
          <p:nvPr/>
        </p:nvGrpSpPr>
        <p:grpSpPr>
          <a:xfrm>
            <a:off x="3521031" y="-5621383"/>
            <a:ext cx="5149937" cy="1887583"/>
            <a:chOff x="1817913" y="1541416"/>
            <a:chExt cx="5149937" cy="188758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A2D1C96-E9FC-46A3-832D-1A737B5B3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tretch>
              <a:fillRect/>
            </a:stretch>
          </p:blipFill>
          <p:spPr>
            <a:xfrm>
              <a:off x="1817913" y="1541416"/>
              <a:ext cx="1887583" cy="1887583"/>
            </a:xfrm>
            <a:prstGeom prst="rect">
              <a:avLst/>
            </a:prstGeom>
            <a:noFill/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A3A12A6-EBCF-404E-A3C9-E31E98CD571C}"/>
                </a:ext>
              </a:extLst>
            </p:cNvPr>
            <p:cNvSpPr/>
            <p:nvPr/>
          </p:nvSpPr>
          <p:spPr>
            <a:xfrm>
              <a:off x="3809998" y="1859339"/>
              <a:ext cx="3157852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9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pitchFamily="34" charset="0"/>
                </a:rPr>
                <a:t>WPA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EA1580B-153A-4520-9911-2E94EB7139CA}"/>
              </a:ext>
            </a:extLst>
          </p:cNvPr>
          <p:cNvGrpSpPr/>
          <p:nvPr/>
        </p:nvGrpSpPr>
        <p:grpSpPr>
          <a:xfrm>
            <a:off x="2490502" y="267939"/>
            <a:ext cx="8380683" cy="648901"/>
            <a:chOff x="3521031" y="5173766"/>
            <a:chExt cx="8534399" cy="69175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A0A6D31-9C05-46C6-A5FD-DB4BFB312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tretch>
              <a:fillRect/>
            </a:stretch>
          </p:blipFill>
          <p:spPr>
            <a:xfrm>
              <a:off x="4028748" y="5173766"/>
              <a:ext cx="691750" cy="691750"/>
            </a:xfrm>
            <a:prstGeom prst="rect">
              <a:avLst/>
            </a:prstGeom>
            <a:noFill/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1FDA76-CAC8-4CB9-A150-670E8A274262}"/>
                </a:ext>
              </a:extLst>
            </p:cNvPr>
            <p:cNvSpPr/>
            <p:nvPr/>
          </p:nvSpPr>
          <p:spPr>
            <a:xfrm>
              <a:off x="3521031" y="5227254"/>
              <a:ext cx="8534399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IN" sz="3200" b="1" dirty="0">
                  <a:solidFill>
                    <a:schemeClr val="bg1"/>
                  </a:solidFill>
                </a:rPr>
                <a:t>Definitions of WPA and its Versions</a:t>
              </a:r>
              <a:endParaRPr lang="en-US" sz="32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D99074C-675B-4C92-8727-C6AB29C12099}"/>
              </a:ext>
            </a:extLst>
          </p:cNvPr>
          <p:cNvGrpSpPr/>
          <p:nvPr/>
        </p:nvGrpSpPr>
        <p:grpSpPr>
          <a:xfrm>
            <a:off x="959819" y="1538513"/>
            <a:ext cx="3606677" cy="4630057"/>
            <a:chOff x="959819" y="1538513"/>
            <a:chExt cx="3606677" cy="463005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96A0EF4-0ED6-4F17-9885-2A8B6CB59BD6}"/>
                </a:ext>
              </a:extLst>
            </p:cNvPr>
            <p:cNvSpPr/>
            <p:nvPr/>
          </p:nvSpPr>
          <p:spPr>
            <a:xfrm>
              <a:off x="1099458" y="1538513"/>
              <a:ext cx="3327400" cy="4630057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008000"/>
                </a:highlight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BE791DB-14DF-45A9-BA59-A77D8C2EEB2E}"/>
                </a:ext>
              </a:extLst>
            </p:cNvPr>
            <p:cNvSpPr txBox="1"/>
            <p:nvPr/>
          </p:nvSpPr>
          <p:spPr>
            <a:xfrm>
              <a:off x="1244600" y="2544847"/>
              <a:ext cx="3066143" cy="34778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2000" dirty="0">
                  <a:solidFill>
                    <a:schemeClr val="bg1"/>
                  </a:solidFill>
                </a:rPr>
                <a:t>The original version, introduced in 2003 as an interim solution. It uses the </a:t>
              </a:r>
              <a:r>
                <a:rPr lang="en-IN" sz="2000" b="1" dirty="0">
                  <a:solidFill>
                    <a:schemeClr val="accent1">
                      <a:lumMod val="75000"/>
                    </a:schemeClr>
                  </a:solidFill>
                </a:rPr>
                <a:t>Temporal Key Integrity Protocol (TKIP)</a:t>
              </a:r>
              <a:r>
                <a:rPr lang="en-IN" sz="2000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IN" sz="2000" dirty="0">
                  <a:solidFill>
                    <a:schemeClr val="bg1"/>
                  </a:solidFill>
                </a:rPr>
                <a:t>for encryption, which dynamically changes the encryption keys for each data packet, a major improvement over WEP's static keys.</a:t>
              </a:r>
              <a:endParaRPr kumimoji="0" lang="en-US" sz="2000" b="0" i="0" u="none" strike="noStrike" kern="1200" cap="none" spc="0" normalizeH="0" baseline="0" noProof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2A43FD-77FD-4962-9E6A-BAC5457D09A0}"/>
                </a:ext>
              </a:extLst>
            </p:cNvPr>
            <p:cNvSpPr/>
            <p:nvPr/>
          </p:nvSpPr>
          <p:spPr>
            <a:xfrm>
              <a:off x="959819" y="1691113"/>
              <a:ext cx="3606677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000" b="1" cap="none" spc="0" dirty="0">
                  <a:ln w="0"/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WPA1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54A3BA9-8EE7-44D0-A8A2-EEF845414D4D}"/>
              </a:ext>
            </a:extLst>
          </p:cNvPr>
          <p:cNvGrpSpPr/>
          <p:nvPr/>
        </p:nvGrpSpPr>
        <p:grpSpPr>
          <a:xfrm>
            <a:off x="4566496" y="1538512"/>
            <a:ext cx="3606677" cy="4630057"/>
            <a:chOff x="4566496" y="1538512"/>
            <a:chExt cx="3606677" cy="463005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99FDC5F-3CB3-43D4-B7B9-0F76507FFAC7}"/>
                </a:ext>
              </a:extLst>
            </p:cNvPr>
            <p:cNvSpPr/>
            <p:nvPr/>
          </p:nvSpPr>
          <p:spPr>
            <a:xfrm>
              <a:off x="4749801" y="1538512"/>
              <a:ext cx="3327400" cy="4630057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3FC1DA-9B1D-41B5-BADE-A4305A50D3A5}"/>
                </a:ext>
              </a:extLst>
            </p:cNvPr>
            <p:cNvSpPr txBox="1"/>
            <p:nvPr/>
          </p:nvSpPr>
          <p:spPr>
            <a:xfrm>
              <a:off x="4880429" y="2527923"/>
              <a:ext cx="3066143" cy="34778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2000" dirty="0">
                  <a:solidFill>
                    <a:schemeClr val="bg1"/>
                  </a:solidFill>
                </a:rPr>
                <a:t>Ratified in 2004, WPA2 is a more robust and widely adopted standard. It replaced TKIP with the stronger </a:t>
              </a:r>
              <a:r>
                <a:rPr lang="en-IN" sz="2000" b="1" dirty="0">
                  <a:solidFill>
                    <a:schemeClr val="accent1">
                      <a:lumMod val="75000"/>
                    </a:schemeClr>
                  </a:solidFill>
                </a:rPr>
                <a:t>Advanced Encryption Standard (AES)</a:t>
              </a:r>
              <a:r>
                <a:rPr lang="en-IN" sz="2000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IN" sz="2000" dirty="0">
                  <a:solidFill>
                    <a:schemeClr val="bg1"/>
                  </a:solidFill>
                </a:rPr>
                <a:t>encryption algorithm using the Counter Mode Cipher Block Chaining Message Authentication Code Protocol (CCMP).</a:t>
              </a:r>
              <a:endParaRPr kumimoji="0" lang="en-US" sz="2000" b="0" i="0" u="none" strike="noStrike" kern="1200" cap="none" spc="0" normalizeH="0" baseline="0" noProof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CEB1973-048B-4169-802F-A1685D3BE4F1}"/>
                </a:ext>
              </a:extLst>
            </p:cNvPr>
            <p:cNvSpPr/>
            <p:nvPr/>
          </p:nvSpPr>
          <p:spPr>
            <a:xfrm>
              <a:off x="4566496" y="1691113"/>
              <a:ext cx="3606677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000" b="1" cap="none" spc="0" dirty="0">
                  <a:ln w="0"/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WPA2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03FD0C8-DE1C-44E2-91EA-3D4C533B7AD5}"/>
              </a:ext>
            </a:extLst>
          </p:cNvPr>
          <p:cNvGrpSpPr/>
          <p:nvPr/>
        </p:nvGrpSpPr>
        <p:grpSpPr>
          <a:xfrm>
            <a:off x="8173173" y="1560281"/>
            <a:ext cx="3606677" cy="4630057"/>
            <a:chOff x="8173173" y="1560281"/>
            <a:chExt cx="3606677" cy="463005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0894E6A-5266-417E-8039-1A59E6CBEE55}"/>
                </a:ext>
              </a:extLst>
            </p:cNvPr>
            <p:cNvSpPr/>
            <p:nvPr/>
          </p:nvSpPr>
          <p:spPr>
            <a:xfrm>
              <a:off x="8371114" y="1560281"/>
              <a:ext cx="3327400" cy="4630057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C42F694-E144-4E98-94D7-6047E76053EF}"/>
                </a:ext>
              </a:extLst>
            </p:cNvPr>
            <p:cNvSpPr txBox="1"/>
            <p:nvPr/>
          </p:nvSpPr>
          <p:spPr>
            <a:xfrm>
              <a:off x="8501742" y="2527923"/>
              <a:ext cx="3066143" cy="34778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2000" dirty="0">
                  <a:solidFill>
                    <a:schemeClr val="bg1"/>
                  </a:solidFill>
                </a:rPr>
                <a:t>Latest standard which introduced in 2018, which includes enhanced protection against offline brute-force attacks through the </a:t>
              </a:r>
              <a:r>
                <a:rPr lang="en-IN" sz="2000" b="1" dirty="0">
                  <a:solidFill>
                    <a:schemeClr val="accent1">
                      <a:lumMod val="75000"/>
                    </a:schemeClr>
                  </a:solidFill>
                </a:rPr>
                <a:t>Simultaneous Authentication of Equals (SAE)</a:t>
              </a:r>
              <a:r>
                <a:rPr lang="en-IN" sz="2000" dirty="0">
                  <a:solidFill>
                    <a:schemeClr val="bg1"/>
                  </a:solidFill>
                </a:rPr>
                <a:t> handshake protocol, and individualized data encryption for public Wi-Fi networks</a:t>
              </a:r>
              <a:endParaRPr kumimoji="0" lang="en-US" sz="2000" b="0" i="0" u="none" strike="noStrike" kern="1200" cap="none" spc="0" normalizeH="0" baseline="0" noProof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FE2C0E6-5DCB-479A-8B0C-366AF944A3F0}"/>
                </a:ext>
              </a:extLst>
            </p:cNvPr>
            <p:cNvSpPr/>
            <p:nvPr/>
          </p:nvSpPr>
          <p:spPr>
            <a:xfrm>
              <a:off x="8173173" y="1689622"/>
              <a:ext cx="3606677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000" b="1" cap="none" spc="0" dirty="0">
                  <a:ln w="0"/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WPA3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CDA1887-3E4D-415A-9B1B-81B6EFED5556}"/>
              </a:ext>
            </a:extLst>
          </p:cNvPr>
          <p:cNvSpPr txBox="1"/>
          <p:nvPr/>
        </p:nvSpPr>
        <p:spPr>
          <a:xfrm>
            <a:off x="1244600" y="-3271753"/>
            <a:ext cx="1008736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WPA stands for </a:t>
            </a:r>
            <a:r>
              <a:rPr kumimoji="0" lang="en-US" sz="2800" b="1" i="0" strike="noStrike" kern="1200" cap="none" spc="0" normalizeH="0" baseline="0" noProof="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Wi-Fi Protected Access</a:t>
            </a:r>
            <a:r>
              <a:rPr kumimoji="0" lang="en-US" sz="2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It </a:t>
            </a:r>
            <a:r>
              <a:rPr lang="en-IN" sz="2800" dirty="0">
                <a:solidFill>
                  <a:schemeClr val="bg1"/>
                </a:solidFill>
              </a:rPr>
              <a:t>is a </a:t>
            </a:r>
            <a:r>
              <a:rPr lang="en-IN" sz="2800" b="1" dirty="0">
                <a:solidFill>
                  <a:schemeClr val="bg1"/>
                </a:solidFill>
              </a:rPr>
              <a:t>security protocol</a:t>
            </a:r>
            <a:r>
              <a:rPr lang="en-IN" sz="2800" dirty="0">
                <a:solidFill>
                  <a:schemeClr val="bg1"/>
                </a:solidFill>
              </a:rPr>
              <a:t> developed by the Wi-Fi Alliance in 2003 to replace the broken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WEP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(Wired Equivalent Privacy)</a:t>
            </a:r>
            <a:r>
              <a:rPr lang="en-IN" sz="2800" b="1" dirty="0">
                <a:solidFill>
                  <a:schemeClr val="bg1"/>
                </a:solidFill>
              </a:rPr>
              <a:t> </a:t>
            </a:r>
            <a:r>
              <a:rPr lang="en-IN" sz="2800" dirty="0">
                <a:solidFill>
                  <a:schemeClr val="bg1"/>
                </a:solidFill>
              </a:rPr>
              <a:t>protocol in Wi-Fi networks. It was designed as an </a:t>
            </a:r>
            <a:r>
              <a:rPr lang="en-IN" sz="2800" b="1" dirty="0">
                <a:solidFill>
                  <a:schemeClr val="bg1"/>
                </a:solidFill>
              </a:rPr>
              <a:t>intermediate solution</a:t>
            </a:r>
            <a:r>
              <a:rPr lang="en-IN" sz="2800" dirty="0">
                <a:solidFill>
                  <a:schemeClr val="bg1"/>
                </a:solidFill>
              </a:rPr>
              <a:t> while the full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802.11i</a:t>
            </a:r>
            <a:r>
              <a:rPr lang="en-IN" sz="2800" dirty="0">
                <a:solidFill>
                  <a:schemeClr val="bg1"/>
                </a:solidFill>
              </a:rPr>
              <a:t> standard (WPA2) was being finalized.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dirty="0">
                <a:solidFill>
                  <a:schemeClr val="bg1"/>
                </a:solidFill>
              </a:rPr>
              <a:t>The primary function of WPA is to provide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confidentiality</a:t>
            </a:r>
            <a:r>
              <a:rPr lang="en-IN" sz="2800" dirty="0">
                <a:solidFill>
                  <a:schemeClr val="bg1"/>
                </a:solidFill>
              </a:rPr>
              <a:t>,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data integrity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dirty="0">
                <a:solidFill>
                  <a:schemeClr val="bg1"/>
                </a:solidFill>
              </a:rPr>
              <a:t>and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access control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dirty="0">
                <a:solidFill>
                  <a:schemeClr val="bg1"/>
                </a:solidFill>
              </a:rPr>
              <a:t>for Wi-Fi networks.</a:t>
            </a:r>
            <a:endParaRPr kumimoji="0" lang="en-US" sz="2800" b="0" i="0" u="none" strike="noStrike" kern="1200" cap="none" spc="0" normalizeH="0" baseline="0" noProof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6642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7F03B03-0145-4A40-A0EF-24774FEEF5F5}"/>
              </a:ext>
            </a:extLst>
          </p:cNvPr>
          <p:cNvGrpSpPr/>
          <p:nvPr/>
        </p:nvGrpSpPr>
        <p:grpSpPr>
          <a:xfrm>
            <a:off x="1905658" y="191739"/>
            <a:ext cx="8380683" cy="648901"/>
            <a:chOff x="2225466" y="5173766"/>
            <a:chExt cx="8534399" cy="69175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9CF50BC-F404-4B96-98C7-764BAC8DC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tretch>
              <a:fillRect/>
            </a:stretch>
          </p:blipFill>
          <p:spPr>
            <a:xfrm>
              <a:off x="4028748" y="5173766"/>
              <a:ext cx="691750" cy="691750"/>
            </a:xfrm>
            <a:prstGeom prst="rect">
              <a:avLst/>
            </a:prstGeom>
            <a:noFill/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ACEE11E-B3C9-44B4-B63B-5AE43F2BFDE9}"/>
                </a:ext>
              </a:extLst>
            </p:cNvPr>
            <p:cNvSpPr/>
            <p:nvPr/>
          </p:nvSpPr>
          <p:spPr>
            <a:xfrm>
              <a:off x="2225466" y="5242126"/>
              <a:ext cx="8534399" cy="62339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IN" sz="3200" b="1" dirty="0">
                  <a:solidFill>
                    <a:schemeClr val="bg1"/>
                  </a:solidFill>
                </a:rPr>
                <a:t>Features of WPA</a:t>
              </a:r>
              <a:endParaRPr lang="en-US" sz="32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175E67B-55DF-40C0-AEC8-AF9337D9E9F2}"/>
              </a:ext>
            </a:extLst>
          </p:cNvPr>
          <p:cNvSpPr txBox="1"/>
          <p:nvPr/>
        </p:nvSpPr>
        <p:spPr>
          <a:xfrm>
            <a:off x="457202" y="1987888"/>
            <a:ext cx="34065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chemeClr val="accent5"/>
                </a:solidFill>
              </a:rPr>
              <a:t>Encryption Enhancement </a:t>
            </a:r>
            <a:r>
              <a:rPr lang="en-IN" sz="2400" dirty="0">
                <a:solidFill>
                  <a:schemeClr val="bg1"/>
                </a:solidFill>
              </a:rPr>
              <a:t>Replaced WEP’s broken security with TKIP to dynamically change encryption keys for each packet, preventing the attacks that broke WEP.</a:t>
            </a:r>
            <a:endParaRPr kumimoji="0" lang="en-US" sz="2400" b="0" i="0" u="none" strike="noStrike" kern="1200" cap="none" spc="0" normalizeH="0" baseline="0" noProof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79FDD0-F27E-485E-BF5A-E35778FD9883}"/>
              </a:ext>
            </a:extLst>
          </p:cNvPr>
          <p:cNvSpPr txBox="1"/>
          <p:nvPr/>
        </p:nvSpPr>
        <p:spPr>
          <a:xfrm>
            <a:off x="4222401" y="1984544"/>
            <a:ext cx="347035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chemeClr val="accent5"/>
                </a:solidFill>
              </a:rPr>
              <a:t>Authentication Flexibility</a:t>
            </a:r>
            <a:r>
              <a:rPr lang="en-IN" sz="2400" dirty="0">
                <a:solidFill>
                  <a:schemeClr val="accent5"/>
                </a:solidFill>
              </a:rPr>
              <a:t> </a:t>
            </a:r>
            <a:r>
              <a:rPr lang="en-IN" sz="2400" dirty="0">
                <a:solidFill>
                  <a:schemeClr val="bg1"/>
                </a:solidFill>
              </a:rPr>
              <a:t> Introduced two modes: </a:t>
            </a:r>
            <a:r>
              <a:rPr lang="en-IN" sz="2400" b="1" dirty="0">
                <a:solidFill>
                  <a:schemeClr val="bg1"/>
                </a:solidFill>
              </a:rPr>
              <a:t>WPA-Personal</a:t>
            </a:r>
            <a:r>
              <a:rPr lang="en-IN" sz="2400" dirty="0">
                <a:solidFill>
                  <a:schemeClr val="bg1"/>
                </a:solidFill>
              </a:rPr>
              <a:t> (using a shared passphrase) and </a:t>
            </a:r>
            <a:r>
              <a:rPr lang="en-IN" sz="2400" b="1" dirty="0">
                <a:solidFill>
                  <a:schemeClr val="bg1"/>
                </a:solidFill>
              </a:rPr>
              <a:t>WPA-Enterprise</a:t>
            </a:r>
            <a:r>
              <a:rPr lang="en-IN" sz="2400" dirty="0">
                <a:solidFill>
                  <a:schemeClr val="bg1"/>
                </a:solidFill>
              </a:rPr>
              <a:t> (using 802.1X/RADIUS for per-user logins), making secure Wi-Fi viable for both homes and businesses.</a:t>
            </a:r>
            <a:endParaRPr kumimoji="0" lang="en-US" sz="2400" b="0" i="0" u="none" strike="noStrike" kern="1200" cap="none" spc="0" normalizeH="0" baseline="0" noProof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ECCDE2-8B1F-4BE3-B859-140895C8522A}"/>
              </a:ext>
            </a:extLst>
          </p:cNvPr>
          <p:cNvSpPr txBox="1"/>
          <p:nvPr/>
        </p:nvSpPr>
        <p:spPr>
          <a:xfrm>
            <a:off x="8093712" y="1946444"/>
            <a:ext cx="33328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chemeClr val="accent5"/>
                </a:solidFill>
              </a:rPr>
              <a:t>Integrity Protection</a:t>
            </a:r>
            <a:r>
              <a:rPr lang="en-IN" sz="2400" dirty="0">
                <a:solidFill>
                  <a:schemeClr val="accent5"/>
                </a:solidFill>
              </a:rPr>
              <a:t>  </a:t>
            </a:r>
            <a:r>
              <a:rPr lang="en-IN" sz="2400" dirty="0">
                <a:solidFill>
                  <a:schemeClr val="bg1"/>
                </a:solidFill>
              </a:rPr>
              <a:t>Added the </a:t>
            </a:r>
            <a:r>
              <a:rPr lang="en-IN" sz="2400" b="1" dirty="0">
                <a:solidFill>
                  <a:schemeClr val="bg1"/>
                </a:solidFill>
              </a:rPr>
              <a:t>Michael MIC</a:t>
            </a:r>
            <a:r>
              <a:rPr lang="en-IN" sz="2400" dirty="0">
                <a:solidFill>
                  <a:schemeClr val="bg1"/>
                </a:solidFill>
              </a:rPr>
              <a:t> to detect tampered packets and automatic countermeasures to block attacks when forgery is detected, preserving data trustworthiness.</a:t>
            </a:r>
            <a:endParaRPr kumimoji="0" lang="en-US" sz="2400" b="0" i="0" u="none" strike="noStrike" kern="1200" cap="none" spc="0" normalizeH="0" baseline="0" noProof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E224BA-6ABC-4F24-AAEE-1ED5F04257EA}"/>
              </a:ext>
            </a:extLst>
          </p:cNvPr>
          <p:cNvCxnSpPr>
            <a:cxnSpLocks/>
          </p:cNvCxnSpPr>
          <p:nvPr/>
        </p:nvCxnSpPr>
        <p:spPr>
          <a:xfrm>
            <a:off x="4054205" y="1336844"/>
            <a:ext cx="0" cy="45305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C366AF1-AF87-4AF1-A59E-CF46D4F3397F}"/>
              </a:ext>
            </a:extLst>
          </p:cNvPr>
          <p:cNvCxnSpPr>
            <a:cxnSpLocks/>
          </p:cNvCxnSpPr>
          <p:nvPr/>
        </p:nvCxnSpPr>
        <p:spPr>
          <a:xfrm>
            <a:off x="7826105" y="1345134"/>
            <a:ext cx="0" cy="45305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8451B958-4255-42EF-8BEB-1865726F1685}"/>
              </a:ext>
            </a:extLst>
          </p:cNvPr>
          <p:cNvSpPr/>
          <p:nvPr/>
        </p:nvSpPr>
        <p:spPr>
          <a:xfrm>
            <a:off x="4350173" y="9014176"/>
            <a:ext cx="3491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ack to Black Demo" pitchFamily="2" charset="0"/>
              </a:rPr>
              <a:t>ThankYou</a:t>
            </a:r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Back to Black Dem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989579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7F03B03-0145-4A40-A0EF-24774FEEF5F5}"/>
              </a:ext>
            </a:extLst>
          </p:cNvPr>
          <p:cNvGrpSpPr/>
          <p:nvPr/>
        </p:nvGrpSpPr>
        <p:grpSpPr>
          <a:xfrm>
            <a:off x="1905658" y="-10099835"/>
            <a:ext cx="8380683" cy="648901"/>
            <a:chOff x="2225466" y="5173766"/>
            <a:chExt cx="8534399" cy="69175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9CF50BC-F404-4B96-98C7-764BAC8DC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tretch>
              <a:fillRect/>
            </a:stretch>
          </p:blipFill>
          <p:spPr>
            <a:xfrm>
              <a:off x="4028748" y="5173766"/>
              <a:ext cx="691750" cy="691750"/>
            </a:xfrm>
            <a:prstGeom prst="rect">
              <a:avLst/>
            </a:prstGeom>
            <a:noFill/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ACEE11E-B3C9-44B4-B63B-5AE43F2BFDE9}"/>
                </a:ext>
              </a:extLst>
            </p:cNvPr>
            <p:cNvSpPr/>
            <p:nvPr/>
          </p:nvSpPr>
          <p:spPr>
            <a:xfrm>
              <a:off x="2225466" y="5242126"/>
              <a:ext cx="8534399" cy="62339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IN" sz="3200" b="1" dirty="0">
                  <a:solidFill>
                    <a:schemeClr val="bg1"/>
                  </a:solidFill>
                </a:rPr>
                <a:t>Features of WPA</a:t>
              </a:r>
              <a:endParaRPr lang="en-US" sz="32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175E67B-55DF-40C0-AEC8-AF9337D9E9F2}"/>
              </a:ext>
            </a:extLst>
          </p:cNvPr>
          <p:cNvSpPr txBox="1"/>
          <p:nvPr/>
        </p:nvSpPr>
        <p:spPr>
          <a:xfrm>
            <a:off x="457202" y="-7626659"/>
            <a:ext cx="34065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chemeClr val="accent5"/>
                </a:solidFill>
              </a:rPr>
              <a:t>Encryption Enhancement </a:t>
            </a:r>
            <a:r>
              <a:rPr lang="en-IN" sz="2400" dirty="0">
                <a:solidFill>
                  <a:schemeClr val="bg1"/>
                </a:solidFill>
              </a:rPr>
              <a:t>Replaced WEP’s broken security with TKIP to dynamically change encryption keys for each packet, preventing the attacks that broke WEP.</a:t>
            </a:r>
            <a:endParaRPr kumimoji="0" lang="en-US" sz="2400" b="0" i="0" u="none" strike="noStrike" kern="1200" cap="none" spc="0" normalizeH="0" baseline="0" noProof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79FDD0-F27E-485E-BF5A-E35778FD9883}"/>
              </a:ext>
            </a:extLst>
          </p:cNvPr>
          <p:cNvSpPr txBox="1"/>
          <p:nvPr/>
        </p:nvSpPr>
        <p:spPr>
          <a:xfrm>
            <a:off x="4222401" y="-5944945"/>
            <a:ext cx="347035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chemeClr val="accent5"/>
                </a:solidFill>
              </a:rPr>
              <a:t>Authentication Flexibility</a:t>
            </a:r>
            <a:r>
              <a:rPr lang="en-IN" sz="2400" dirty="0">
                <a:solidFill>
                  <a:schemeClr val="accent5"/>
                </a:solidFill>
              </a:rPr>
              <a:t> </a:t>
            </a:r>
            <a:r>
              <a:rPr lang="en-IN" sz="2400" dirty="0">
                <a:solidFill>
                  <a:schemeClr val="bg1"/>
                </a:solidFill>
              </a:rPr>
              <a:t> Introduced two modes: </a:t>
            </a:r>
            <a:r>
              <a:rPr lang="en-IN" sz="2400" b="1" dirty="0">
                <a:solidFill>
                  <a:schemeClr val="bg1"/>
                </a:solidFill>
              </a:rPr>
              <a:t>WPA-Personal</a:t>
            </a:r>
            <a:r>
              <a:rPr lang="en-IN" sz="2400" dirty="0">
                <a:solidFill>
                  <a:schemeClr val="bg1"/>
                </a:solidFill>
              </a:rPr>
              <a:t> (using a shared passphrase) and </a:t>
            </a:r>
            <a:r>
              <a:rPr lang="en-IN" sz="2400" b="1" dirty="0">
                <a:solidFill>
                  <a:schemeClr val="bg1"/>
                </a:solidFill>
              </a:rPr>
              <a:t>WPA-Enterprise</a:t>
            </a:r>
            <a:r>
              <a:rPr lang="en-IN" sz="2400" dirty="0">
                <a:solidFill>
                  <a:schemeClr val="bg1"/>
                </a:solidFill>
              </a:rPr>
              <a:t> (using 802.1X/RADIUS for per-user logins), making secure Wi-Fi viable for both homes and businesses.</a:t>
            </a:r>
            <a:endParaRPr kumimoji="0" lang="en-US" sz="2400" b="0" i="0" u="none" strike="noStrike" kern="1200" cap="none" spc="0" normalizeH="0" baseline="0" noProof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ECCDE2-8B1F-4BE3-B859-140895C8522A}"/>
              </a:ext>
            </a:extLst>
          </p:cNvPr>
          <p:cNvSpPr txBox="1"/>
          <p:nvPr/>
        </p:nvSpPr>
        <p:spPr>
          <a:xfrm>
            <a:off x="8093712" y="-3952912"/>
            <a:ext cx="33328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chemeClr val="accent5"/>
                </a:solidFill>
              </a:rPr>
              <a:t>Integrity Protection</a:t>
            </a:r>
            <a:r>
              <a:rPr lang="en-IN" sz="2400" dirty="0">
                <a:solidFill>
                  <a:schemeClr val="accent5"/>
                </a:solidFill>
              </a:rPr>
              <a:t>  </a:t>
            </a:r>
            <a:r>
              <a:rPr lang="en-IN" sz="2400" dirty="0">
                <a:solidFill>
                  <a:schemeClr val="bg1"/>
                </a:solidFill>
              </a:rPr>
              <a:t>Added the </a:t>
            </a:r>
            <a:r>
              <a:rPr lang="en-IN" sz="2400" b="1" dirty="0">
                <a:solidFill>
                  <a:schemeClr val="bg1"/>
                </a:solidFill>
              </a:rPr>
              <a:t>Michael MIC</a:t>
            </a:r>
            <a:r>
              <a:rPr lang="en-IN" sz="2400" dirty="0">
                <a:solidFill>
                  <a:schemeClr val="bg1"/>
                </a:solidFill>
              </a:rPr>
              <a:t> to detect tampered packets and automatic countermeasures to block attacks when forgery is detected, preserving data trustworthiness.</a:t>
            </a:r>
            <a:endParaRPr kumimoji="0" lang="en-US" sz="2400" b="0" i="0" u="none" strike="noStrike" kern="1200" cap="none" spc="0" normalizeH="0" baseline="0" noProof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E224BA-6ABC-4F24-AAEE-1ED5F04257EA}"/>
              </a:ext>
            </a:extLst>
          </p:cNvPr>
          <p:cNvCxnSpPr>
            <a:cxnSpLocks/>
          </p:cNvCxnSpPr>
          <p:nvPr/>
        </p:nvCxnSpPr>
        <p:spPr>
          <a:xfrm>
            <a:off x="4054205" y="-7071617"/>
            <a:ext cx="0" cy="45305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C366AF1-AF87-4AF1-A59E-CF46D4F3397F}"/>
              </a:ext>
            </a:extLst>
          </p:cNvPr>
          <p:cNvCxnSpPr>
            <a:cxnSpLocks/>
          </p:cNvCxnSpPr>
          <p:nvPr/>
        </p:nvCxnSpPr>
        <p:spPr>
          <a:xfrm>
            <a:off x="7826105" y="-6273936"/>
            <a:ext cx="0" cy="45305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6A55387-4CCE-4269-9626-A4D586145372}"/>
              </a:ext>
            </a:extLst>
          </p:cNvPr>
          <p:cNvSpPr/>
          <p:nvPr/>
        </p:nvSpPr>
        <p:spPr>
          <a:xfrm>
            <a:off x="4350173" y="2967335"/>
            <a:ext cx="3491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ack to Black Demo" pitchFamily="2" charset="0"/>
              </a:rPr>
              <a:t>ThankYou</a:t>
            </a:r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Back to Black Dem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6090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545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Back to Black Demo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PADMANABH</dc:creator>
  <cp:lastModifiedBy>PADMANABH</cp:lastModifiedBy>
  <cp:revision>42</cp:revision>
  <dcterms:created xsi:type="dcterms:W3CDTF">2026-01-05T16:01:54Z</dcterms:created>
  <dcterms:modified xsi:type="dcterms:W3CDTF">2026-01-05T17:23:43Z</dcterms:modified>
</cp:coreProperties>
</file>